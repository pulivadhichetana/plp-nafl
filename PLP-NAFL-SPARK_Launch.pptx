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image" Target="../media/image-2-2.png"/><Relationship Id="rId3" Type="http://schemas.openxmlformats.org/officeDocument/2006/relationships/image" Target="../media/image-2-3.png"/><Relationship Id="rId4" Type="http://schemas.openxmlformats.org/officeDocument/2006/relationships/image" Target="../media/image-2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png"/><Relationship Id="rId3" Type="http://schemas.openxmlformats.org/officeDocument/2006/relationships/image" Target="../media/image-3-3.png"/><Relationship Id="rId4" Type="http://schemas.openxmlformats.org/officeDocument/2006/relationships/image" Target="../media/image-3-4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png"/><Relationship Id="rId3" Type="http://schemas.openxmlformats.org/officeDocument/2006/relationships/image" Target="../media/image-4-3.png"/><Relationship Id="rId4" Type="http://schemas.openxmlformats.org/officeDocument/2006/relationships/image" Target="../media/image-4-4.png"/><Relationship Id="rId5" Type="http://schemas.openxmlformats.org/officeDocument/2006/relationships/image" Target="../media/image-4-5.png"/><Relationship Id="rId6" Type="http://schemas.openxmlformats.org/officeDocument/2006/relationships/image" Target="../media/image-4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image" Target="../media/image-6-4.png"/><Relationship Id="rId5" Type="http://schemas.openxmlformats.org/officeDocument/2006/relationships/image" Target="../media/image-6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image" Target="../media/image-7-4.png"/><Relationship Id="rId5" Type="http://schemas.openxmlformats.org/officeDocument/2006/relationships/image" Target="../media/image-7-5.png"/><Relationship Id="rId6" Type="http://schemas.openxmlformats.org/officeDocument/2006/relationships/image" Target="../media/image-7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image" Target="../media/image-9-2.png"/><Relationship Id="rId3" Type="http://schemas.openxmlformats.org/officeDocument/2006/relationships/image" Target="../media/image-9-3.png"/><Relationship Id="rId4" Type="http://schemas.openxmlformats.org/officeDocument/2006/relationships/image" Target="../media/image-9-4.png"/><Relationship Id="rId5" Type="http://schemas.openxmlformats.org/officeDocument/2006/relationships/image" Target="../media/image-9-5.png"/><Relationship Id="rId6" Type="http://schemas.openxmlformats.org/officeDocument/2006/relationships/image" Target="../media/image-9-6.png"/><Relationship Id="rId7" Type="http://schemas.openxmlformats.org/officeDocument/2006/relationships/slideLayout" Target="../slideLayouts/slideLayout1.xml"/><Relationship Id="rId8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image" Target="../media/image-11-2.png"/><Relationship Id="rId3" Type="http://schemas.openxmlformats.org/officeDocument/2006/relationships/image" Target="../media/image-11-3.png"/><Relationship Id="rId4" Type="http://schemas.openxmlformats.org/officeDocument/2006/relationships/image" Target="../media/image-11-4.png"/><Relationship Id="rId5" Type="http://schemas.openxmlformats.org/officeDocument/2006/relationships/image" Target="../media/image-11-5.png"/><Relationship Id="rId6" Type="http://schemas.openxmlformats.org/officeDocument/2006/relationships/slideLayout" Target="../slideLayouts/slideLayout1.xml"/><Relationship Id="rId7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3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3233F"/>
          </a:solidFill>
          <a:ln/>
        </p:spPr>
      </p:sp>
      <p:sp>
        <p:nvSpPr>
          <p:cNvPr id="3" name="Shape 1"/>
          <p:cNvSpPr/>
          <p:nvPr/>
        </p:nvSpPr>
        <p:spPr>
          <a:xfrm>
            <a:off x="8869680" y="-2377440"/>
            <a:ext cx="6400800" cy="6400800"/>
          </a:xfrm>
          <a:prstGeom prst="ellipse">
            <a:avLst/>
          </a:prstGeom>
          <a:solidFill>
            <a:srgbClr val="1D3358"/>
          </a:solidFill>
          <a:ln/>
        </p:spPr>
      </p:sp>
      <p:sp>
        <p:nvSpPr>
          <p:cNvPr id="4" name="Shape 2"/>
          <p:cNvSpPr/>
          <p:nvPr/>
        </p:nvSpPr>
        <p:spPr>
          <a:xfrm>
            <a:off x="10332720" y="3291840"/>
            <a:ext cx="4754880" cy="4754880"/>
          </a:xfrm>
          <a:prstGeom prst="ellipse">
            <a:avLst/>
          </a:prstGeom>
          <a:solidFill>
            <a:srgbClr val="24406E"/>
          </a:solidFill>
          <a:ln/>
        </p:spPr>
      </p:sp>
      <p:pic>
        <p:nvPicPr>
          <p:cNvPr id="5" name="Image 0" descr="/home/claude/ppt_assets/nafl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68680" y="621792"/>
            <a:ext cx="384048" cy="822960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481328" y="713232"/>
            <a:ext cx="54864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00" b="1" spc="200" kern="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ACADEMY FOR LEARNING</a:t>
            </a:r>
            <a:endParaRPr lang="en-US" sz="1400" dirty="0"/>
          </a:p>
        </p:txBody>
      </p:sp>
      <p:sp>
        <p:nvSpPr>
          <p:cNvPr id="7" name="Text 4"/>
          <p:cNvSpPr/>
          <p:nvPr/>
        </p:nvSpPr>
        <p:spPr>
          <a:xfrm>
            <a:off x="1481328" y="1005840"/>
            <a:ext cx="54864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00" spc="300" kern="0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PORTAL</a:t>
            </a:r>
            <a:endParaRPr lang="en-US" sz="1100" dirty="0"/>
          </a:p>
        </p:txBody>
      </p:sp>
      <p:sp>
        <p:nvSpPr>
          <p:cNvPr id="8" name="Text 5"/>
          <p:cNvSpPr/>
          <p:nvPr/>
        </p:nvSpPr>
        <p:spPr>
          <a:xfrm>
            <a:off x="777240" y="2331720"/>
            <a:ext cx="9601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000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Launch</a:t>
            </a:r>
            <a:endParaRPr lang="en-US" sz="2000" dirty="0"/>
          </a:p>
        </p:txBody>
      </p:sp>
      <p:sp>
        <p:nvSpPr>
          <p:cNvPr id="9" name="Text 6"/>
          <p:cNvSpPr/>
          <p:nvPr/>
        </p:nvSpPr>
        <p:spPr>
          <a:xfrm>
            <a:off x="777240" y="2743200"/>
            <a:ext cx="9875520" cy="1554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An AI-Powered Lesson Planning Portal</a:t>
            </a:r>
            <a:endParaRPr lang="en-US" sz="3800" dirty="0"/>
          </a:p>
          <a:p>
            <a:pPr indent="0" marL="0">
              <a:lnSpc>
                <a:spcPts val="4400"/>
              </a:lnSpc>
              <a:buNone/>
            </a:pPr>
            <a:r>
              <a:rPr lang="en-US" sz="38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 Every Teacher, Every Subject, Every Grade</a:t>
            </a:r>
            <a:endParaRPr lang="en-US" sz="3800" dirty="0"/>
          </a:p>
        </p:txBody>
      </p:sp>
      <p:sp>
        <p:nvSpPr>
          <p:cNvPr id="10" name="Text 7"/>
          <p:cNvSpPr/>
          <p:nvPr/>
        </p:nvSpPr>
        <p:spPr>
          <a:xfrm>
            <a:off x="777240" y="4572000"/>
            <a:ext cx="9144000" cy="7315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a topic, a syllabus, or a PPT — to a print-ready, editable lesson plan.</a:t>
            </a:r>
            <a:endParaRPr lang="en-US" sz="1500" dirty="0"/>
          </a:p>
          <a:p>
            <a:pPr indent="0" marL="0">
              <a:lnSpc>
                <a:spcPts val="2200"/>
              </a:lnSpc>
              <a:buNone/>
            </a:pPr>
            <a:r>
              <a:rPr lang="en-US" sz="15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Built on NAFL's own activity library and lesson-plan format.</a:t>
            </a:r>
            <a:endParaRPr lang="en-US" sz="1500" dirty="0"/>
          </a:p>
        </p:txBody>
      </p:sp>
      <p:sp>
        <p:nvSpPr>
          <p:cNvPr id="11" name="Text 8"/>
          <p:cNvSpPr/>
          <p:nvPr/>
        </p:nvSpPr>
        <p:spPr>
          <a:xfrm>
            <a:off x="777240" y="6080760"/>
            <a:ext cx="54864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00" i="1" dirty="0">
                <a:solidFill>
                  <a:srgbClr val="C79A3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Presented to the Principal  ·  PLP-NAFL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PROJECT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Lesson planning takes hours teachers don't have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22960" y="2057400"/>
            <a:ext cx="640080" cy="64008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6" name="Image 0" descr="/home/claude/ppt_assets/FaChalkboardTeacher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87552" y="222199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96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Hours per week, per teacher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822960" y="33832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Formatting a lesson plan correctly — typing out activities, objectives, and resources by hand — eats into prep time every single week.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526280" y="2057400"/>
            <a:ext cx="640080" cy="64008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1" name="Image 1" descr="/home/claude/ppt_assets/FaLayerGroup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90872" y="222199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52628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Inconsistent formats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4526280" y="33832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Plans arrive in different layouts and levels of detail, making review, filing, and audits harder for HODs and the Principal's office.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783080"/>
            <a:ext cx="3383280" cy="3246120"/>
          </a:xfrm>
          <a:prstGeom prst="roundRect">
            <a:avLst>
              <a:gd name="adj" fmla="val 2254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8229600" y="2057400"/>
            <a:ext cx="640080" cy="64008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6" name="Image 2" descr="/home/claude/ppt_assets/FaBookOpen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394192" y="222199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8229600" y="2834640"/>
            <a:ext cx="2834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Untapped resources</a:t>
            </a:r>
            <a:endParaRPr lang="en-US" sz="1700" dirty="0"/>
          </a:p>
        </p:txBody>
      </p:sp>
      <p:sp>
        <p:nvSpPr>
          <p:cNvPr id="18" name="Text 13"/>
          <p:cNvSpPr/>
          <p:nvPr/>
        </p:nvSpPr>
        <p:spPr>
          <a:xfrm>
            <a:off x="8229600" y="3383280"/>
            <a:ext cx="2834640" cy="1463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NAFL's own Goody Bag of 40+ classroom strategies and the school's syllabus (POW) aren't easy to turn into ready lesson plans quickly.</a:t>
            </a:r>
            <a:endParaRPr lang="en-US" sz="1250" dirty="0"/>
          </a:p>
        </p:txBody>
      </p:sp>
      <p:pic>
        <p:nvPicPr>
          <p:cNvPr id="19" name="Image 3" descr="/home/claude/ppt_assets/nafl_fla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0" name="Text 14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1" name="Text 15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9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SOLUTION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One portal. Three ways in. One school format out.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897380" y="2148840"/>
            <a:ext cx="731520" cy="73152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6" name="Image 0" descr="/home/claude/ppt_assets/FaMagic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2061972" y="2313432"/>
            <a:ext cx="402336" cy="40233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4864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</a:t>
            </a:r>
            <a:endParaRPr lang="en-US" sz="1900" dirty="0"/>
          </a:p>
        </p:txBody>
      </p:sp>
      <p:sp>
        <p:nvSpPr>
          <p:cNvPr id="8" name="Text 5"/>
          <p:cNvSpPr/>
          <p:nvPr/>
        </p:nvSpPr>
        <p:spPr>
          <a:xfrm>
            <a:off x="82296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 topic, grade and subject. Choose activities from the Goody Bag. Get a complete plan in minutes.</a:t>
            </a:r>
            <a:endParaRPr lang="en-US" sz="1250" dirty="0"/>
          </a:p>
        </p:txBody>
      </p:sp>
      <p:sp>
        <p:nvSpPr>
          <p:cNvPr id="9" name="Shape 6"/>
          <p:cNvSpPr/>
          <p:nvPr/>
        </p:nvSpPr>
        <p:spPr>
          <a:xfrm>
            <a:off x="425196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5600700" y="2148840"/>
            <a:ext cx="731520" cy="73152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11" name="Image 1" descr="/home/claude/ppt_assets/FaCloudUploadAlt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5765292" y="2313432"/>
            <a:ext cx="402336" cy="40233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425196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</a:t>
            </a:r>
            <a:endParaRPr lang="en-US" sz="1900" dirty="0"/>
          </a:p>
        </p:txBody>
      </p:sp>
      <p:sp>
        <p:nvSpPr>
          <p:cNvPr id="13" name="Text 9"/>
          <p:cNvSpPr/>
          <p:nvPr/>
        </p:nvSpPr>
        <p:spPr>
          <a:xfrm>
            <a:off x="452628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an existing PPT, PDF or Word lesson. The Portal reformats it into NAFL's exact template.</a:t>
            </a:r>
            <a:endParaRPr lang="en-US" sz="1250" dirty="0"/>
          </a:p>
        </p:txBody>
      </p:sp>
      <p:sp>
        <p:nvSpPr>
          <p:cNvPr id="14" name="Shape 10"/>
          <p:cNvSpPr/>
          <p:nvPr/>
        </p:nvSpPr>
        <p:spPr>
          <a:xfrm>
            <a:off x="7955280" y="1828800"/>
            <a:ext cx="3429000" cy="3200400"/>
          </a:xfrm>
          <a:prstGeom prst="roundRect">
            <a:avLst>
              <a:gd name="adj" fmla="val 228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9304020" y="2148840"/>
            <a:ext cx="731520" cy="73152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16" name="Image 2" descr="/home/claude/ppt_assets/FaCalendarAl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68612" y="2313432"/>
            <a:ext cx="402336" cy="40233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7955280" y="3063240"/>
            <a:ext cx="34290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90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Work</a:t>
            </a:r>
            <a:endParaRPr lang="en-US" sz="1900" dirty="0"/>
          </a:p>
        </p:txBody>
      </p:sp>
      <p:sp>
        <p:nvSpPr>
          <p:cNvPr id="18" name="Text 13"/>
          <p:cNvSpPr/>
          <p:nvPr/>
        </p:nvSpPr>
        <p:spPr>
          <a:xfrm>
            <a:off x="8229600" y="3520440"/>
            <a:ext cx="2880360" cy="1371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800"/>
              </a:lnSpc>
              <a:buNone/>
            </a:pPr>
            <a:r>
              <a:rPr lang="en-US" sz="12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syllabus. Get objectives per topic — and generate the full run of lesson plans for a unit in one click.</a:t>
            </a:r>
            <a:endParaRPr lang="en-US" sz="1250" dirty="0"/>
          </a:p>
        </p:txBody>
      </p:sp>
      <p:sp>
        <p:nvSpPr>
          <p:cNvPr id="19" name="Shape 14"/>
          <p:cNvSpPr/>
          <p:nvPr/>
        </p:nvSpPr>
        <p:spPr>
          <a:xfrm>
            <a:off x="1463040" y="5349240"/>
            <a:ext cx="9235440" cy="18288"/>
          </a:xfrm>
          <a:prstGeom prst="rect">
            <a:avLst/>
          </a:prstGeom>
          <a:solidFill>
            <a:srgbClr val="C79A3E"/>
          </a:solidFill>
          <a:ln/>
        </p:spPr>
      </p:sp>
      <p:sp>
        <p:nvSpPr>
          <p:cNvPr id="20" name="Text 15"/>
          <p:cNvSpPr/>
          <p:nvPr/>
        </p:nvSpPr>
        <p:spPr>
          <a:xfrm>
            <a:off x="731520" y="5532120"/>
            <a:ext cx="106984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i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path lands in the same place: a Word and PDF lesson plan in NAFL's official In-session format.</a:t>
            </a:r>
            <a:endParaRPr lang="en-US" sz="1400" dirty="0"/>
          </a:p>
        </p:txBody>
      </p:sp>
      <p:pic>
        <p:nvPicPr>
          <p:cNvPr id="21" name="Image 3" descr="/home/claude/ppt_assets/nafl_flam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3" name="Text 17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9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PROCESS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How it works, step by step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1394460" y="3223260"/>
            <a:ext cx="9400032" cy="0"/>
          </a:xfrm>
          <a:prstGeom prst="line">
            <a:avLst/>
          </a:prstGeom>
          <a:noFill/>
          <a:ln w="31750">
            <a:solidFill>
              <a:srgbClr val="C79A3E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48640" y="2377440"/>
            <a:ext cx="1691640" cy="1691640"/>
          </a:xfrm>
          <a:prstGeom prst="ellipse">
            <a:avLst/>
          </a:prstGeom>
          <a:solidFill>
            <a:srgbClr val="1323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6" name="Image 0" descr="/home/claude/ppt_assets/FaLightbulb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83564" y="2912364"/>
            <a:ext cx="621792" cy="621792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228600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Choose your start</a:t>
            </a:r>
            <a:endParaRPr lang="en-US" sz="1300" dirty="0"/>
          </a:p>
        </p:txBody>
      </p:sp>
      <p:sp>
        <p:nvSpPr>
          <p:cNvPr id="8" name="Text 5"/>
          <p:cNvSpPr/>
          <p:nvPr/>
        </p:nvSpPr>
        <p:spPr>
          <a:xfrm>
            <a:off x="228600" y="4617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Topic, file upload,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or syllabus</a:t>
            </a:r>
            <a:endParaRPr lang="en-US" sz="1050" dirty="0"/>
          </a:p>
        </p:txBody>
      </p:sp>
      <p:sp>
        <p:nvSpPr>
          <p:cNvPr id="9" name="Shape 6"/>
          <p:cNvSpPr/>
          <p:nvPr/>
        </p:nvSpPr>
        <p:spPr>
          <a:xfrm>
            <a:off x="2898648" y="2377440"/>
            <a:ext cx="1691640" cy="1691640"/>
          </a:xfrm>
          <a:prstGeom prst="ellipse">
            <a:avLst/>
          </a:prstGeom>
          <a:solidFill>
            <a:srgbClr val="7C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0" name="Image 1" descr="/home/claude/ppt_assets/FaUsersCog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433572" y="2912364"/>
            <a:ext cx="621792" cy="621792"/>
          </a:xfrm>
          <a:prstGeom prst="rect">
            <a:avLst/>
          </a:prstGeom>
        </p:spPr>
      </p:pic>
      <p:sp>
        <p:nvSpPr>
          <p:cNvPr id="11" name="Text 7"/>
          <p:cNvSpPr/>
          <p:nvPr/>
        </p:nvSpPr>
        <p:spPr>
          <a:xfrm>
            <a:off x="2578608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Pick activities</a:t>
            </a:r>
            <a:endParaRPr lang="en-US" sz="1300" dirty="0"/>
          </a:p>
        </p:txBody>
      </p:sp>
      <p:sp>
        <p:nvSpPr>
          <p:cNvPr id="12" name="Text 8"/>
          <p:cNvSpPr/>
          <p:nvPr/>
        </p:nvSpPr>
        <p:spPr>
          <a:xfrm>
            <a:off x="2578608" y="4617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the Goody Bag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library, by category</a:t>
            </a:r>
            <a:endParaRPr lang="en-US" sz="1050" dirty="0"/>
          </a:p>
        </p:txBody>
      </p:sp>
      <p:sp>
        <p:nvSpPr>
          <p:cNvPr id="13" name="Shape 9"/>
          <p:cNvSpPr/>
          <p:nvPr/>
        </p:nvSpPr>
        <p:spPr>
          <a:xfrm>
            <a:off x="5248656" y="2377440"/>
            <a:ext cx="1691640" cy="1691640"/>
          </a:xfrm>
          <a:prstGeom prst="ellipse">
            <a:avLst/>
          </a:prstGeom>
          <a:solidFill>
            <a:srgbClr val="1323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4" name="Image 2" descr="/home/claude/ppt_assets/Fa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783580" y="2912364"/>
            <a:ext cx="621792" cy="621792"/>
          </a:xfrm>
          <a:prstGeom prst="rect">
            <a:avLst/>
          </a:prstGeom>
        </p:spPr>
      </p:pic>
      <p:sp>
        <p:nvSpPr>
          <p:cNvPr id="15" name="Text 10"/>
          <p:cNvSpPr/>
          <p:nvPr/>
        </p:nvSpPr>
        <p:spPr>
          <a:xfrm>
            <a:off x="4928616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AI fills the detail</a:t>
            </a:r>
            <a:endParaRPr lang="en-US" sz="1300" dirty="0"/>
          </a:p>
        </p:txBody>
      </p:sp>
      <p:sp>
        <p:nvSpPr>
          <p:cNvPr id="16" name="Text 11"/>
          <p:cNvSpPr/>
          <p:nvPr/>
        </p:nvSpPr>
        <p:spPr>
          <a:xfrm>
            <a:off x="4928616" y="4617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questions,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talking points</a:t>
            </a:r>
            <a:endParaRPr lang="en-US" sz="1050" dirty="0"/>
          </a:p>
        </p:txBody>
      </p:sp>
      <p:sp>
        <p:nvSpPr>
          <p:cNvPr id="17" name="Shape 12"/>
          <p:cNvSpPr/>
          <p:nvPr/>
        </p:nvSpPr>
        <p:spPr>
          <a:xfrm>
            <a:off x="7598664" y="2377440"/>
            <a:ext cx="1691640" cy="1691640"/>
          </a:xfrm>
          <a:prstGeom prst="ellipse">
            <a:avLst/>
          </a:prstGeom>
          <a:solidFill>
            <a:srgbClr val="7C1F2E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18" name="Image 3" descr="/home/claude/ppt_assets/FaClipboardLis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133588" y="2912364"/>
            <a:ext cx="621792" cy="621792"/>
          </a:xfrm>
          <a:prstGeom prst="rect">
            <a:avLst/>
          </a:prstGeom>
        </p:spPr>
      </p:pic>
      <p:sp>
        <p:nvSpPr>
          <p:cNvPr id="19" name="Text 13"/>
          <p:cNvSpPr/>
          <p:nvPr/>
        </p:nvSpPr>
        <p:spPr>
          <a:xfrm>
            <a:off x="7278624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Review the plan</a:t>
            </a:r>
            <a:endParaRPr lang="en-US" sz="1300" dirty="0"/>
          </a:p>
        </p:txBody>
      </p:sp>
      <p:sp>
        <p:nvSpPr>
          <p:cNvPr id="20" name="Text 14"/>
          <p:cNvSpPr/>
          <p:nvPr/>
        </p:nvSpPr>
        <p:spPr>
          <a:xfrm>
            <a:off x="7278624" y="4617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NAFL's exact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lesson plan format</a:t>
            </a:r>
            <a:endParaRPr lang="en-US" sz="1050" dirty="0"/>
          </a:p>
        </p:txBody>
      </p:sp>
      <p:sp>
        <p:nvSpPr>
          <p:cNvPr id="21" name="Shape 15"/>
          <p:cNvSpPr/>
          <p:nvPr/>
        </p:nvSpPr>
        <p:spPr>
          <a:xfrm>
            <a:off x="9948672" y="2377440"/>
            <a:ext cx="1691640" cy="1691640"/>
          </a:xfrm>
          <a:prstGeom prst="ellipse">
            <a:avLst/>
          </a:prstGeom>
          <a:solidFill>
            <a:srgbClr val="13233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pic>
        <p:nvPicPr>
          <p:cNvPr id="22" name="Image 4" descr="/home/claude/ppt_assets/FaFileWord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0483596" y="2912364"/>
            <a:ext cx="621792" cy="621792"/>
          </a:xfrm>
          <a:prstGeom prst="rect">
            <a:avLst/>
          </a:prstGeom>
        </p:spPr>
      </p:pic>
      <p:sp>
        <p:nvSpPr>
          <p:cNvPr id="23" name="Text 16"/>
          <p:cNvSpPr/>
          <p:nvPr/>
        </p:nvSpPr>
        <p:spPr>
          <a:xfrm>
            <a:off x="9628632" y="4233672"/>
            <a:ext cx="23317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5. Download &amp; teach</a:t>
            </a:r>
            <a:endParaRPr lang="en-US" sz="1300" dirty="0"/>
          </a:p>
        </p:txBody>
      </p:sp>
      <p:sp>
        <p:nvSpPr>
          <p:cNvPr id="24" name="Text 17"/>
          <p:cNvSpPr/>
          <p:nvPr/>
        </p:nvSpPr>
        <p:spPr>
          <a:xfrm>
            <a:off x="9628632" y="4617720"/>
            <a:ext cx="233172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Editable Word</a:t>
            </a:r>
            <a:endParaRPr lang="en-US" sz="1050" dirty="0"/>
          </a:p>
          <a:p>
            <a:pPr algn="ctr" indent="0" marL="0">
              <a:lnSpc>
                <a:spcPts val="1300"/>
              </a:lnSpc>
              <a:buNone/>
            </a:pPr>
            <a:r>
              <a:rPr lang="en-US" sz="105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and print-ready PDF</a:t>
            </a:r>
            <a:endParaRPr lang="en-US" sz="1050" dirty="0"/>
          </a:p>
        </p:txBody>
      </p:sp>
      <p:sp>
        <p:nvSpPr>
          <p:cNvPr id="25" name="Text 18"/>
          <p:cNvSpPr/>
          <p:nvPr/>
        </p:nvSpPr>
        <p:spPr>
          <a:xfrm>
            <a:off x="548640" y="5349240"/>
            <a:ext cx="104241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module below uses this same five-step flow — only the starting point changes.</a:t>
            </a:r>
            <a:endParaRPr lang="en-US" sz="1300" dirty="0"/>
          </a:p>
        </p:txBody>
      </p:sp>
      <p:pic>
        <p:nvPicPr>
          <p:cNvPr id="26" name="Image 5" descr="/home/claude/ppt_assets/nafl_fla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7" name="Text 19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8" name="Text 20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9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1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Build Lesson Plan — start from a topic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6035040" cy="4114800"/>
          </a:xfrm>
          <a:prstGeom prst="roundRect">
            <a:avLst>
              <a:gd name="adj" fmla="val 1778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Text 3"/>
          <p:cNvSpPr/>
          <p:nvPr/>
        </p:nvSpPr>
        <p:spPr>
          <a:xfrm>
            <a:off x="868680" y="2057400"/>
            <a:ext cx="5440680" cy="356616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Select Grade (1–12), Subject, and type the CBSE topic.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activities from Starters, Collaborative Learning, Formative Assessment, and Plenaries — all from NAFL's own Goody Bag.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Toggle on AI to generate real, objective-linked content for each activity — not generic placeholders.</a:t>
            </a:r>
            <a:endParaRPr lang="en-US" sz="1400" dirty="0"/>
          </a:p>
          <a:p>
            <a:pPr marL="342900" indent="-342900">
              <a:spcAft>
                <a:spcPts val="1200"/>
              </a:spcAft>
              <a:buSzPct val="100000"/>
              <a:buChar char="•"/>
            </a:pPr>
            <a:r>
              <a:rPr lang="en-US" sz="14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an optional Teacher Mini-Lecture: subject talking points and questions, written for the exact topic.</a:t>
            </a:r>
            <a:endParaRPr lang="en-US" sz="1400" dirty="0"/>
          </a:p>
        </p:txBody>
      </p:sp>
      <p:sp>
        <p:nvSpPr>
          <p:cNvPr id="6" name="Shape 4"/>
          <p:cNvSpPr/>
          <p:nvPr/>
        </p:nvSpPr>
        <p:spPr>
          <a:xfrm>
            <a:off x="6903720" y="1783080"/>
            <a:ext cx="4754880" cy="4114800"/>
          </a:xfrm>
          <a:prstGeom prst="roundRect">
            <a:avLst>
              <a:gd name="adj" fmla="val 1778"/>
            </a:avLst>
          </a:prstGeom>
          <a:solidFill>
            <a:srgbClr val="FFFFFF"/>
          </a:solidFill>
          <a:ln w="12700">
            <a:solidFill>
              <a:srgbClr val="DDD5C2"/>
            </a:solidFill>
            <a:prstDash val="solid"/>
          </a:ln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7" name="Text 5"/>
          <p:cNvSpPr/>
          <p:nvPr/>
        </p:nvSpPr>
        <p:spPr>
          <a:xfrm>
            <a:off x="7178040" y="2011680"/>
            <a:ext cx="42062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In-session: Lesson Plan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7178040" y="2441448"/>
            <a:ext cx="4206240" cy="384048"/>
          </a:xfrm>
          <a:prstGeom prst="rect">
            <a:avLst/>
          </a:prstGeom>
          <a:solidFill>
            <a:srgbClr val="B8CCE4"/>
          </a:solidFill>
          <a:ln/>
        </p:spPr>
      </p:sp>
      <p:sp>
        <p:nvSpPr>
          <p:cNvPr id="9" name="Text 7"/>
          <p:cNvSpPr/>
          <p:nvPr/>
        </p:nvSpPr>
        <p:spPr>
          <a:xfrm>
            <a:off x="7269480" y="2441448"/>
            <a:ext cx="402336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Aim: Learners will understand fractions...</a:t>
            </a:r>
            <a:endParaRPr lang="en-US" sz="950" dirty="0"/>
          </a:p>
        </p:txBody>
      </p:sp>
      <p:sp>
        <p:nvSpPr>
          <p:cNvPr id="10" name="Shape 8"/>
          <p:cNvSpPr/>
          <p:nvPr/>
        </p:nvSpPr>
        <p:spPr>
          <a:xfrm>
            <a:off x="7178040" y="2825496"/>
            <a:ext cx="4206240" cy="457200"/>
          </a:xfrm>
          <a:prstGeom prst="rect">
            <a:avLst/>
          </a:prstGeom>
          <a:solidFill>
            <a:srgbClr val="FBD4B4"/>
          </a:solidFill>
          <a:ln/>
        </p:spPr>
      </p:sp>
      <p:sp>
        <p:nvSpPr>
          <p:cNvPr id="11" name="Text 9"/>
          <p:cNvSpPr/>
          <p:nvPr/>
        </p:nvSpPr>
        <p:spPr>
          <a:xfrm>
            <a:off x="7269480" y="2825496"/>
            <a:ext cx="40233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Learning Objectives: describe, explain, apply...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7178040" y="3282696"/>
            <a:ext cx="336499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7178040" y="3282696"/>
            <a:ext cx="336499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Time</a:t>
            </a:r>
            <a:endParaRPr lang="en-US" sz="800" dirty="0"/>
          </a:p>
        </p:txBody>
      </p:sp>
      <p:sp>
        <p:nvSpPr>
          <p:cNvPr id="14" name="Shape 12"/>
          <p:cNvSpPr/>
          <p:nvPr/>
        </p:nvSpPr>
        <p:spPr>
          <a:xfrm>
            <a:off x="7514539" y="3282696"/>
            <a:ext cx="151424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514539" y="3282696"/>
            <a:ext cx="151424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Activity</a:t>
            </a:r>
            <a:endParaRPr lang="en-US" sz="800" dirty="0"/>
          </a:p>
        </p:txBody>
      </p:sp>
      <p:sp>
        <p:nvSpPr>
          <p:cNvPr id="16" name="Shape 14"/>
          <p:cNvSpPr/>
          <p:nvPr/>
        </p:nvSpPr>
        <p:spPr>
          <a:xfrm>
            <a:off x="9028786" y="3282696"/>
            <a:ext cx="1093622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028786" y="3282696"/>
            <a:ext cx="1093622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Learner Activity</a:t>
            </a:r>
            <a:endParaRPr lang="en-US" sz="800" dirty="0"/>
          </a:p>
        </p:txBody>
      </p:sp>
      <p:sp>
        <p:nvSpPr>
          <p:cNvPr id="18" name="Shape 16"/>
          <p:cNvSpPr/>
          <p:nvPr/>
        </p:nvSpPr>
        <p:spPr>
          <a:xfrm>
            <a:off x="10122408" y="3282696"/>
            <a:ext cx="63093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10122408" y="3282696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FA</a:t>
            </a:r>
            <a:endParaRPr lang="en-US" sz="800" dirty="0"/>
          </a:p>
        </p:txBody>
      </p:sp>
      <p:sp>
        <p:nvSpPr>
          <p:cNvPr id="20" name="Shape 18"/>
          <p:cNvSpPr/>
          <p:nvPr/>
        </p:nvSpPr>
        <p:spPr>
          <a:xfrm>
            <a:off x="10753344" y="3282696"/>
            <a:ext cx="630936" cy="292608"/>
          </a:xfrm>
          <a:prstGeom prst="rect">
            <a:avLst/>
          </a:prstGeom>
          <a:solidFill>
            <a:srgbClr val="FFFFFF"/>
          </a:solidFill>
          <a:ln w="9525">
            <a:solidFill>
              <a:srgbClr val="111111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10753344" y="3282696"/>
            <a:ext cx="630936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111111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Resources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7178040" y="3575304"/>
            <a:ext cx="33649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3" name="Shape 21"/>
          <p:cNvSpPr/>
          <p:nvPr/>
        </p:nvSpPr>
        <p:spPr>
          <a:xfrm>
            <a:off x="7514539" y="3575304"/>
            <a:ext cx="151424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4" name="Shape 22"/>
          <p:cNvSpPr/>
          <p:nvPr/>
        </p:nvSpPr>
        <p:spPr>
          <a:xfrm>
            <a:off x="9028786" y="3575304"/>
            <a:ext cx="109362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5" name="Shape 23"/>
          <p:cNvSpPr/>
          <p:nvPr/>
        </p:nvSpPr>
        <p:spPr>
          <a:xfrm>
            <a:off x="10122408" y="3575304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6" name="Shape 24"/>
          <p:cNvSpPr/>
          <p:nvPr/>
        </p:nvSpPr>
        <p:spPr>
          <a:xfrm>
            <a:off x="10753344" y="3575304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7" name="Shape 25"/>
          <p:cNvSpPr/>
          <p:nvPr/>
        </p:nvSpPr>
        <p:spPr>
          <a:xfrm>
            <a:off x="7178040" y="4142232"/>
            <a:ext cx="33649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8" name="Shape 26"/>
          <p:cNvSpPr/>
          <p:nvPr/>
        </p:nvSpPr>
        <p:spPr>
          <a:xfrm>
            <a:off x="7514539" y="4142232"/>
            <a:ext cx="151424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29" name="Shape 27"/>
          <p:cNvSpPr/>
          <p:nvPr/>
        </p:nvSpPr>
        <p:spPr>
          <a:xfrm>
            <a:off x="9028786" y="4142232"/>
            <a:ext cx="109362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0" name="Shape 28"/>
          <p:cNvSpPr/>
          <p:nvPr/>
        </p:nvSpPr>
        <p:spPr>
          <a:xfrm>
            <a:off x="10122408" y="4142232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1" name="Shape 29"/>
          <p:cNvSpPr/>
          <p:nvPr/>
        </p:nvSpPr>
        <p:spPr>
          <a:xfrm>
            <a:off x="10753344" y="4142232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2" name="Shape 30"/>
          <p:cNvSpPr/>
          <p:nvPr/>
        </p:nvSpPr>
        <p:spPr>
          <a:xfrm>
            <a:off x="7178040" y="4709160"/>
            <a:ext cx="336499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3" name="Shape 31"/>
          <p:cNvSpPr/>
          <p:nvPr/>
        </p:nvSpPr>
        <p:spPr>
          <a:xfrm>
            <a:off x="7514539" y="4709160"/>
            <a:ext cx="151424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4" name="Shape 32"/>
          <p:cNvSpPr/>
          <p:nvPr/>
        </p:nvSpPr>
        <p:spPr>
          <a:xfrm>
            <a:off x="9028786" y="4709160"/>
            <a:ext cx="1093622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5" name="Shape 33"/>
          <p:cNvSpPr/>
          <p:nvPr/>
        </p:nvSpPr>
        <p:spPr>
          <a:xfrm>
            <a:off x="10122408" y="4709160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6" name="Shape 34"/>
          <p:cNvSpPr/>
          <p:nvPr/>
        </p:nvSpPr>
        <p:spPr>
          <a:xfrm>
            <a:off x="10753344" y="4709160"/>
            <a:ext cx="630936" cy="566928"/>
          </a:xfrm>
          <a:prstGeom prst="rect">
            <a:avLst/>
          </a:prstGeom>
          <a:solidFill>
            <a:srgbClr val="FFFFFF"/>
          </a:solidFill>
          <a:ln w="6350">
            <a:solidFill>
              <a:srgbClr val="C9D3E0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7525512" y="3575304"/>
            <a:ext cx="1422806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buNone/>
            </a:pPr>
            <a:r>
              <a:rPr lang="en-US" sz="7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Starter: Numbered Heads — real questions for this topic</a:t>
            </a:r>
            <a:endParaRPr lang="en-US" sz="750" dirty="0"/>
          </a:p>
        </p:txBody>
      </p:sp>
      <p:pic>
        <p:nvPicPr>
          <p:cNvPr id="38" name="Image 0" descr="/home/claude/ppt_assets/nafl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39" name="Text 36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40" name="Text 37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9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2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Convert a File — PPT, PDF or Word to NAFL format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868680" y="21031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1682496" y="2331720"/>
            <a:ext cx="658368" cy="658368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6" name="Image 0" descr="/home/claude/ppt_assets/FaFilePowerpoin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828800" y="2478024"/>
            <a:ext cx="365760" cy="36576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96012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PPT / PDF / Word</a:t>
            </a:r>
            <a:endParaRPr lang="en-US" sz="1200" dirty="0"/>
          </a:p>
        </p:txBody>
      </p:sp>
      <p:sp>
        <p:nvSpPr>
          <p:cNvPr id="8" name="Shape 5"/>
          <p:cNvSpPr/>
          <p:nvPr/>
        </p:nvSpPr>
        <p:spPr>
          <a:xfrm>
            <a:off x="3209544" y="2960827"/>
            <a:ext cx="393192" cy="22860"/>
          </a:xfrm>
          <a:prstGeom prst="rect">
            <a:avLst/>
          </a:prstGeom>
          <a:solidFill>
            <a:srgbClr val="C79A3E"/>
          </a:solidFill>
          <a:ln/>
        </p:spPr>
      </p:sp>
      <p:sp>
        <p:nvSpPr>
          <p:cNvPr id="9" name="Shape 6"/>
          <p:cNvSpPr/>
          <p:nvPr/>
        </p:nvSpPr>
        <p:spPr>
          <a:xfrm>
            <a:off x="3657600" y="21031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4471416" y="2331720"/>
            <a:ext cx="658368" cy="658368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1" name="Image 1" descr="/home/claude/ppt_assets/FaCogs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617720" y="2478024"/>
            <a:ext cx="365760" cy="36576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74904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reads it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(table-aware for Word)</a:t>
            </a:r>
            <a:endParaRPr lang="en-US" sz="1200" dirty="0"/>
          </a:p>
        </p:txBody>
      </p:sp>
      <p:sp>
        <p:nvSpPr>
          <p:cNvPr id="13" name="Shape 9"/>
          <p:cNvSpPr/>
          <p:nvPr/>
        </p:nvSpPr>
        <p:spPr>
          <a:xfrm>
            <a:off x="5998464" y="2960827"/>
            <a:ext cx="393192" cy="22860"/>
          </a:xfrm>
          <a:prstGeom prst="rect">
            <a:avLst/>
          </a:prstGeom>
          <a:solidFill>
            <a:srgbClr val="C79A3E"/>
          </a:solidFill>
          <a:ln/>
        </p:spPr>
      </p:sp>
      <p:sp>
        <p:nvSpPr>
          <p:cNvPr id="14" name="Shape 10"/>
          <p:cNvSpPr/>
          <p:nvPr/>
        </p:nvSpPr>
        <p:spPr>
          <a:xfrm>
            <a:off x="6446520" y="21031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260336" y="2331720"/>
            <a:ext cx="658368" cy="658368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6" name="Image 2" descr="/home/claude/ppt_assets/FaUsersCog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06640" y="2478024"/>
            <a:ext cx="365760" cy="365760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53796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or lets you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pick Goody Bag activities</a:t>
            </a:r>
            <a:endParaRPr lang="en-US" sz="1200" dirty="0"/>
          </a:p>
        </p:txBody>
      </p:sp>
      <p:sp>
        <p:nvSpPr>
          <p:cNvPr id="18" name="Shape 13"/>
          <p:cNvSpPr/>
          <p:nvPr/>
        </p:nvSpPr>
        <p:spPr>
          <a:xfrm>
            <a:off x="8787384" y="2960827"/>
            <a:ext cx="393192" cy="22860"/>
          </a:xfrm>
          <a:prstGeom prst="rect">
            <a:avLst/>
          </a:prstGeom>
          <a:solidFill>
            <a:srgbClr val="C79A3E"/>
          </a:solidFill>
          <a:ln/>
        </p:spPr>
      </p:sp>
      <p:sp>
        <p:nvSpPr>
          <p:cNvPr id="19" name="Shape 14"/>
          <p:cNvSpPr/>
          <p:nvPr/>
        </p:nvSpPr>
        <p:spPr>
          <a:xfrm>
            <a:off x="9235440" y="2103120"/>
            <a:ext cx="2286000" cy="1737360"/>
          </a:xfrm>
          <a:prstGeom prst="roundRect">
            <a:avLst>
              <a:gd name="adj" fmla="val 4211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10049256" y="2331720"/>
            <a:ext cx="658368" cy="658368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21" name="Image 3" descr="/home/claude/ppt_assets/FaFileWord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195560" y="2478024"/>
            <a:ext cx="365760" cy="365760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9326880" y="3063240"/>
            <a:ext cx="21031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Out comes the</a:t>
            </a:r>
            <a:endParaRPr lang="en-US" sz="1200" dirty="0"/>
          </a:p>
          <a:p>
            <a:pPr algn="ctr" indent="0" marL="0">
              <a:lnSpc>
                <a:spcPts val="1500"/>
              </a:lnSpc>
              <a:buNone/>
            </a:pPr>
            <a:r>
              <a:rPr lang="en-US" sz="12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NAFL lesson plan</a:t>
            </a:r>
            <a:endParaRPr lang="en-US" sz="1200" dirty="0"/>
          </a:p>
        </p:txBody>
      </p:sp>
      <p:sp>
        <p:nvSpPr>
          <p:cNvPr id="23" name="Shape 17"/>
          <p:cNvSpPr/>
          <p:nvPr/>
        </p:nvSpPr>
        <p:spPr>
          <a:xfrm>
            <a:off x="868680" y="4297680"/>
            <a:ext cx="10058400" cy="1554480"/>
          </a:xfrm>
          <a:prstGeom prst="roundRect">
            <a:avLst>
              <a:gd name="adj" fmla="val 4706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18"/>
          <p:cNvSpPr/>
          <p:nvPr/>
        </p:nvSpPr>
        <p:spPr>
          <a:xfrm>
            <a:off x="1188720" y="4480560"/>
            <a:ext cx="941832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indent="0" marL="0">
              <a:lnSpc>
                <a:spcPts val="1900"/>
              </a:lnSpc>
              <a:buNone/>
            </a:pPr>
            <a:r>
              <a:rPr lang="en-US" sz="1300" b="1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Why this matters: </a:t>
            </a:r>
            <a:pPr indent="0" marL="0">
              <a:lnSpc>
                <a:spcPts val="1900"/>
              </a:lnSpc>
              <a:buNone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if a Word lesson plan already has a Time / Teacher / Learner / Resources table — the same shape as NAFL's own format — the Portal reads the table directly and maps it column-by-column. If a PPT or PDF has no clearly named activity, the teacher is offered the same Goody Bag picker used in Build, so a plan is never invented from a blind guess.</a:t>
            </a:r>
            <a:endParaRPr lang="en-US" sz="1300" dirty="0"/>
          </a:p>
        </p:txBody>
      </p:sp>
      <p:pic>
        <p:nvPicPr>
          <p:cNvPr id="25" name="Image 4" descr="/home/claude/ppt_assets/nafl_fla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7" name="Text 20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MODULE 3 OF 3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Plan of Work — syllabus to a full run of lesson plans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5" name="Image 0" descr="/home/claude/ppt_assets/FaCloudUploa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76656" y="1911096"/>
            <a:ext cx="246888" cy="246888"/>
          </a:xfrm>
          <a:prstGeom prst="rect">
            <a:avLst/>
          </a:prstGeom>
        </p:spPr>
      </p:pic>
      <p:sp>
        <p:nvSpPr>
          <p:cNvPr id="6" name="Text 3"/>
          <p:cNvSpPr/>
          <p:nvPr/>
        </p:nvSpPr>
        <p:spPr>
          <a:xfrm>
            <a:off x="1234440" y="17647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Upload the syllabus (POW) PDF</a:t>
            </a:r>
            <a:endParaRPr lang="en-US" sz="1350" dirty="0"/>
          </a:p>
        </p:txBody>
      </p:sp>
      <p:sp>
        <p:nvSpPr>
          <p:cNvPr id="7" name="Shape 4"/>
          <p:cNvSpPr/>
          <p:nvPr/>
        </p:nvSpPr>
        <p:spPr>
          <a:xfrm>
            <a:off x="800100" y="2313432"/>
            <a:ext cx="0" cy="384048"/>
          </a:xfrm>
          <a:prstGeom prst="line">
            <a:avLst/>
          </a:prstGeom>
          <a:noFill/>
          <a:ln w="25400">
            <a:solidFill>
              <a:srgbClr val="C79A3E"/>
            </a:solidFill>
            <a:prstDash val="solid"/>
          </a:ln>
        </p:spPr>
      </p:sp>
      <p:sp>
        <p:nvSpPr>
          <p:cNvPr id="8" name="Shape 5"/>
          <p:cNvSpPr/>
          <p:nvPr/>
        </p:nvSpPr>
        <p:spPr>
          <a:xfrm>
            <a:off x="548640" y="269748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9" name="Image 1" descr="/home/claude/ppt_assets/Fa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76656" y="2825496"/>
            <a:ext cx="246888" cy="246888"/>
          </a:xfrm>
          <a:prstGeom prst="rect">
            <a:avLst/>
          </a:prstGeom>
        </p:spPr>
      </p:pic>
      <p:sp>
        <p:nvSpPr>
          <p:cNvPr id="10" name="Text 6"/>
          <p:cNvSpPr/>
          <p:nvPr/>
        </p:nvSpPr>
        <p:spPr>
          <a:xfrm>
            <a:off x="1234440" y="26791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detects topics / chapters automatically</a:t>
            </a:r>
            <a:endParaRPr lang="en-US" sz="1350" dirty="0"/>
          </a:p>
        </p:txBody>
      </p:sp>
      <p:sp>
        <p:nvSpPr>
          <p:cNvPr id="11" name="Shape 7"/>
          <p:cNvSpPr/>
          <p:nvPr/>
        </p:nvSpPr>
        <p:spPr>
          <a:xfrm>
            <a:off x="800100" y="3227832"/>
            <a:ext cx="0" cy="384048"/>
          </a:xfrm>
          <a:prstGeom prst="line">
            <a:avLst/>
          </a:prstGeom>
          <a:noFill/>
          <a:ln w="25400">
            <a:solidFill>
              <a:srgbClr val="C79A3E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548640" y="361188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3" name="Image 2" descr="/home/claude/ppt_assets/FaRobot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76656" y="3739896"/>
            <a:ext cx="246888" cy="246888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1234440" y="35935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drafts Bloom-aligned objectives per topic</a:t>
            </a:r>
            <a:endParaRPr lang="en-US" sz="1350" dirty="0"/>
          </a:p>
        </p:txBody>
      </p:sp>
      <p:sp>
        <p:nvSpPr>
          <p:cNvPr id="15" name="Shape 10"/>
          <p:cNvSpPr/>
          <p:nvPr/>
        </p:nvSpPr>
        <p:spPr>
          <a:xfrm>
            <a:off x="800100" y="4142232"/>
            <a:ext cx="0" cy="384048"/>
          </a:xfrm>
          <a:prstGeom prst="line">
            <a:avLst/>
          </a:prstGeom>
          <a:noFill/>
          <a:ln w="25400">
            <a:solidFill>
              <a:srgbClr val="C79A3E"/>
            </a:solidFill>
            <a:prstDash val="solid"/>
          </a:ln>
        </p:spPr>
      </p:sp>
      <p:sp>
        <p:nvSpPr>
          <p:cNvPr id="16" name="Shape 11"/>
          <p:cNvSpPr/>
          <p:nvPr/>
        </p:nvSpPr>
        <p:spPr>
          <a:xfrm>
            <a:off x="548640" y="4526280"/>
            <a:ext cx="502920" cy="50292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7" name="Image 3" descr="/home/claude/ppt_assets/FaCalendarAlt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76656" y="4654296"/>
            <a:ext cx="246888" cy="246888"/>
          </a:xfrm>
          <a:prstGeom prst="rect">
            <a:avLst/>
          </a:prstGeom>
        </p:spPr>
      </p:pic>
      <p:sp>
        <p:nvSpPr>
          <p:cNvPr id="18" name="Text 12"/>
          <p:cNvSpPr/>
          <p:nvPr/>
        </p:nvSpPr>
        <p:spPr>
          <a:xfrm>
            <a:off x="1234440" y="45079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sets “No. of lesson plans” for that topic</a:t>
            </a:r>
            <a:endParaRPr lang="en-US" sz="1350" dirty="0"/>
          </a:p>
        </p:txBody>
      </p:sp>
      <p:sp>
        <p:nvSpPr>
          <p:cNvPr id="19" name="Shape 13"/>
          <p:cNvSpPr/>
          <p:nvPr/>
        </p:nvSpPr>
        <p:spPr>
          <a:xfrm>
            <a:off x="800100" y="5056632"/>
            <a:ext cx="0" cy="384048"/>
          </a:xfrm>
          <a:prstGeom prst="line">
            <a:avLst/>
          </a:prstGeom>
          <a:noFill/>
          <a:ln w="25400">
            <a:solidFill>
              <a:srgbClr val="C79A3E"/>
            </a:solidFill>
            <a:prstDash val="solid"/>
          </a:ln>
        </p:spPr>
      </p:sp>
      <p:sp>
        <p:nvSpPr>
          <p:cNvPr id="20" name="Shape 14"/>
          <p:cNvSpPr/>
          <p:nvPr/>
        </p:nvSpPr>
        <p:spPr>
          <a:xfrm>
            <a:off x="548640" y="5440680"/>
            <a:ext cx="502920" cy="50292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21" name="Image 4" descr="/home/claude/ppt_assets/FaLayerGroup_whit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676656" y="5568696"/>
            <a:ext cx="246888" cy="246888"/>
          </a:xfrm>
          <a:prstGeom prst="rect">
            <a:avLst/>
          </a:prstGeom>
        </p:spPr>
      </p:pic>
      <p:sp>
        <p:nvSpPr>
          <p:cNvPr id="22" name="Text 15"/>
          <p:cNvSpPr/>
          <p:nvPr/>
        </p:nvSpPr>
        <p:spPr>
          <a:xfrm>
            <a:off x="1234440" y="5422392"/>
            <a:ext cx="548640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50" b="1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Portal generates that many full sessions — each with different Goody Bag activities</a:t>
            </a:r>
            <a:endParaRPr lang="en-US" sz="1350" dirty="0"/>
          </a:p>
        </p:txBody>
      </p:sp>
      <p:sp>
        <p:nvSpPr>
          <p:cNvPr id="23" name="Shape 16"/>
          <p:cNvSpPr/>
          <p:nvPr/>
        </p:nvSpPr>
        <p:spPr>
          <a:xfrm>
            <a:off x="7040880" y="1783080"/>
            <a:ext cx="4617720" cy="4160520"/>
          </a:xfrm>
          <a:prstGeom prst="roundRect">
            <a:avLst>
              <a:gd name="adj" fmla="val 1758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4" name="Text 17"/>
          <p:cNvSpPr/>
          <p:nvPr/>
        </p:nvSpPr>
        <p:spPr>
          <a:xfrm>
            <a:off x="7315200" y="2011680"/>
            <a:ext cx="406908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Example: Computer Science, Grade 11</a:t>
            </a:r>
            <a:endParaRPr lang="en-US" sz="1250" dirty="0"/>
          </a:p>
        </p:txBody>
      </p:sp>
      <p:sp>
        <p:nvSpPr>
          <p:cNvPr id="25" name="Shape 18"/>
          <p:cNvSpPr/>
          <p:nvPr/>
        </p:nvSpPr>
        <p:spPr>
          <a:xfrm>
            <a:off x="7315200" y="2560320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26" name="Text 19"/>
          <p:cNvSpPr/>
          <p:nvPr/>
        </p:nvSpPr>
        <p:spPr>
          <a:xfrm>
            <a:off x="7498080" y="2560320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Python Basics — Flow of Control</a:t>
            </a:r>
            <a:endParaRPr lang="en-US" sz="1150" dirty="0"/>
          </a:p>
        </p:txBody>
      </p:sp>
      <p:sp>
        <p:nvSpPr>
          <p:cNvPr id="27" name="Shape 20"/>
          <p:cNvSpPr/>
          <p:nvPr/>
        </p:nvSpPr>
        <p:spPr>
          <a:xfrm>
            <a:off x="10607040" y="2679192"/>
            <a:ext cx="420624" cy="420624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28" name="Text 21"/>
          <p:cNvSpPr/>
          <p:nvPr/>
        </p:nvSpPr>
        <p:spPr>
          <a:xfrm>
            <a:off x="10607040" y="2679192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29" name="Shape 22"/>
          <p:cNvSpPr/>
          <p:nvPr/>
        </p:nvSpPr>
        <p:spPr>
          <a:xfrm>
            <a:off x="7315200" y="3401568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0" name="Text 23"/>
          <p:cNvSpPr/>
          <p:nvPr/>
        </p:nvSpPr>
        <p:spPr>
          <a:xfrm>
            <a:off x="7498080" y="3401568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Conditional Statements</a:t>
            </a:r>
            <a:endParaRPr lang="en-US" sz="1150" dirty="0"/>
          </a:p>
        </p:txBody>
      </p:sp>
      <p:sp>
        <p:nvSpPr>
          <p:cNvPr id="31" name="Shape 24"/>
          <p:cNvSpPr/>
          <p:nvPr/>
        </p:nvSpPr>
        <p:spPr>
          <a:xfrm>
            <a:off x="10607040" y="3520440"/>
            <a:ext cx="420624" cy="420624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32" name="Text 25"/>
          <p:cNvSpPr/>
          <p:nvPr/>
        </p:nvSpPr>
        <p:spPr>
          <a:xfrm>
            <a:off x="10607040" y="3520440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33" name="Shape 26"/>
          <p:cNvSpPr/>
          <p:nvPr/>
        </p:nvSpPr>
        <p:spPr>
          <a:xfrm>
            <a:off x="7315200" y="4242816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4" name="Text 27"/>
          <p:cNvSpPr/>
          <p:nvPr/>
        </p:nvSpPr>
        <p:spPr>
          <a:xfrm>
            <a:off x="7498080" y="4242816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Iterative Statements (loops)</a:t>
            </a:r>
            <a:endParaRPr lang="en-US" sz="1150" dirty="0"/>
          </a:p>
        </p:txBody>
      </p:sp>
      <p:sp>
        <p:nvSpPr>
          <p:cNvPr id="35" name="Shape 28"/>
          <p:cNvSpPr/>
          <p:nvPr/>
        </p:nvSpPr>
        <p:spPr>
          <a:xfrm>
            <a:off x="10607040" y="4361688"/>
            <a:ext cx="420624" cy="420624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36" name="Text 29"/>
          <p:cNvSpPr/>
          <p:nvPr/>
        </p:nvSpPr>
        <p:spPr>
          <a:xfrm>
            <a:off x="10607040" y="4361688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400" dirty="0"/>
          </a:p>
        </p:txBody>
      </p:sp>
      <p:sp>
        <p:nvSpPr>
          <p:cNvPr id="37" name="Shape 30"/>
          <p:cNvSpPr/>
          <p:nvPr/>
        </p:nvSpPr>
        <p:spPr>
          <a:xfrm>
            <a:off x="7315200" y="5084064"/>
            <a:ext cx="4069080" cy="658368"/>
          </a:xfrm>
          <a:prstGeom prst="roundRect">
            <a:avLst>
              <a:gd name="adj" fmla="val 8333"/>
            </a:avLst>
          </a:prstGeom>
          <a:solidFill>
            <a:srgbClr val="FFFFFF"/>
          </a:solidFill>
          <a:ln/>
        </p:spPr>
      </p:sp>
      <p:sp>
        <p:nvSpPr>
          <p:cNvPr id="38" name="Text 31"/>
          <p:cNvSpPr/>
          <p:nvPr/>
        </p:nvSpPr>
        <p:spPr>
          <a:xfrm>
            <a:off x="7498080" y="5084064"/>
            <a:ext cx="2971800" cy="6583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Strings — Operations &amp; Methods</a:t>
            </a:r>
            <a:endParaRPr lang="en-US" sz="1150" dirty="0"/>
          </a:p>
        </p:txBody>
      </p:sp>
      <p:sp>
        <p:nvSpPr>
          <p:cNvPr id="39" name="Shape 32"/>
          <p:cNvSpPr/>
          <p:nvPr/>
        </p:nvSpPr>
        <p:spPr>
          <a:xfrm>
            <a:off x="10607040" y="5202936"/>
            <a:ext cx="420624" cy="420624"/>
          </a:xfrm>
          <a:prstGeom prst="ellipse">
            <a:avLst/>
          </a:prstGeom>
          <a:solidFill>
            <a:srgbClr val="C79A3E"/>
          </a:solidFill>
          <a:ln/>
        </p:spPr>
      </p:sp>
      <p:sp>
        <p:nvSpPr>
          <p:cNvPr id="40" name="Text 33"/>
          <p:cNvSpPr/>
          <p:nvPr/>
        </p:nvSpPr>
        <p:spPr>
          <a:xfrm>
            <a:off x="10607040" y="5202936"/>
            <a:ext cx="42062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4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400" dirty="0"/>
          </a:p>
        </p:txBody>
      </p:sp>
      <p:sp>
        <p:nvSpPr>
          <p:cNvPr id="41" name="Text 34"/>
          <p:cNvSpPr/>
          <p:nvPr/>
        </p:nvSpPr>
        <p:spPr>
          <a:xfrm>
            <a:off x="7315200" y="5971032"/>
            <a:ext cx="4069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 Generates lesson plans</a:t>
            </a:r>
            <a:endParaRPr lang="en-US" sz="1050" dirty="0"/>
          </a:p>
        </p:txBody>
      </p:sp>
      <p:pic>
        <p:nvPicPr>
          <p:cNvPr id="42" name="Image 5" descr="/home/claude/ppt_assets/nafl_fla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43" name="Text 35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44" name="Text 36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9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CONTENT ENGINE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Powered by NAFL's own Goody Bag library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3358"/>
          </a:solidFill>
          <a:ln/>
        </p:spPr>
      </p:sp>
      <p:sp>
        <p:nvSpPr>
          <p:cNvPr id="5" name="Text 3"/>
          <p:cNvSpPr/>
          <p:nvPr/>
        </p:nvSpPr>
        <p:spPr>
          <a:xfrm>
            <a:off x="777240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6" name="Text 4"/>
          <p:cNvSpPr/>
          <p:nvPr/>
        </p:nvSpPr>
        <p:spPr>
          <a:xfrm>
            <a:off x="777240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7" name="Text 5"/>
          <p:cNvSpPr/>
          <p:nvPr/>
        </p:nvSpPr>
        <p:spPr>
          <a:xfrm>
            <a:off x="777240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Starters</a:t>
            </a:r>
            <a:endParaRPr lang="en-US" sz="1600" dirty="0"/>
          </a:p>
        </p:txBody>
      </p:sp>
      <p:sp>
        <p:nvSpPr>
          <p:cNvPr id="8" name="Text 6"/>
          <p:cNvSpPr/>
          <p:nvPr/>
        </p:nvSpPr>
        <p:spPr>
          <a:xfrm>
            <a:off x="777240" y="3703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60-Second Challenge, Odd One Out, Mystery Bag, and more</a:t>
            </a:r>
            <a:endParaRPr lang="en-US" sz="1100" dirty="0"/>
          </a:p>
        </p:txBody>
      </p:sp>
      <p:sp>
        <p:nvSpPr>
          <p:cNvPr id="9" name="Shape 7"/>
          <p:cNvSpPr/>
          <p:nvPr/>
        </p:nvSpPr>
        <p:spPr>
          <a:xfrm>
            <a:off x="3410712" y="18288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3358"/>
          </a:solidFill>
          <a:ln/>
        </p:spPr>
      </p:sp>
      <p:sp>
        <p:nvSpPr>
          <p:cNvPr id="10" name="Text 8"/>
          <p:cNvSpPr/>
          <p:nvPr/>
        </p:nvSpPr>
        <p:spPr>
          <a:xfrm>
            <a:off x="3639312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1" name="Text 9"/>
          <p:cNvSpPr/>
          <p:nvPr/>
        </p:nvSpPr>
        <p:spPr>
          <a:xfrm>
            <a:off x="3639312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3639312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Collaborative Learning</a:t>
            </a:r>
            <a:endParaRPr lang="en-US" sz="1600" dirty="0"/>
          </a:p>
        </p:txBody>
      </p:sp>
      <p:sp>
        <p:nvSpPr>
          <p:cNvPr id="13" name="Text 11"/>
          <p:cNvSpPr/>
          <p:nvPr/>
        </p:nvSpPr>
        <p:spPr>
          <a:xfrm>
            <a:off x="3639312" y="3703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Numbered Heads, Placemats, Team-Pair-Solo, Gallery Walk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272784" y="18288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3358"/>
          </a:solidFill>
          <a:ln/>
        </p:spPr>
      </p:sp>
      <p:sp>
        <p:nvSpPr>
          <p:cNvPr id="15" name="Text 13"/>
          <p:cNvSpPr/>
          <p:nvPr/>
        </p:nvSpPr>
        <p:spPr>
          <a:xfrm>
            <a:off x="6501384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16" name="Text 14"/>
          <p:cNvSpPr/>
          <p:nvPr/>
        </p:nvSpPr>
        <p:spPr>
          <a:xfrm>
            <a:off x="6501384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6501384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Formative Assessment</a:t>
            </a:r>
            <a:endParaRPr lang="en-US" sz="1600" dirty="0"/>
          </a:p>
        </p:txBody>
      </p:sp>
      <p:sp>
        <p:nvSpPr>
          <p:cNvPr id="18" name="Text 16"/>
          <p:cNvSpPr/>
          <p:nvPr/>
        </p:nvSpPr>
        <p:spPr>
          <a:xfrm>
            <a:off x="6501384" y="3703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Post-it Parade, Polling Booth, Exit Cards, KWL Chart</a:t>
            </a:r>
            <a:endParaRPr lang="en-US" sz="1100" dirty="0"/>
          </a:p>
        </p:txBody>
      </p:sp>
      <p:sp>
        <p:nvSpPr>
          <p:cNvPr id="19" name="Shape 17"/>
          <p:cNvSpPr/>
          <p:nvPr/>
        </p:nvSpPr>
        <p:spPr>
          <a:xfrm>
            <a:off x="9134856" y="1828800"/>
            <a:ext cx="2606040" cy="3246120"/>
          </a:xfrm>
          <a:prstGeom prst="roundRect">
            <a:avLst>
              <a:gd name="adj" fmla="val 2807"/>
            </a:avLst>
          </a:prstGeom>
          <a:solidFill>
            <a:srgbClr val="1D3358"/>
          </a:solidFill>
          <a:ln/>
        </p:spPr>
      </p:sp>
      <p:sp>
        <p:nvSpPr>
          <p:cNvPr id="20" name="Text 18"/>
          <p:cNvSpPr/>
          <p:nvPr/>
        </p:nvSpPr>
        <p:spPr>
          <a:xfrm>
            <a:off x="9363456" y="2057400"/>
            <a:ext cx="1371600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2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10</a:t>
            </a:r>
            <a:endParaRPr lang="en-US" sz="3200" dirty="0"/>
          </a:p>
        </p:txBody>
      </p:sp>
      <p:sp>
        <p:nvSpPr>
          <p:cNvPr id="21" name="Text 19"/>
          <p:cNvSpPr/>
          <p:nvPr/>
        </p:nvSpPr>
        <p:spPr>
          <a:xfrm>
            <a:off x="9363456" y="2606040"/>
            <a:ext cx="1371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strategies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9363456" y="3063240"/>
            <a:ext cx="214884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Plenaries</a:t>
            </a:r>
            <a:endParaRPr lang="en-US" sz="1600" dirty="0"/>
          </a:p>
        </p:txBody>
      </p:sp>
      <p:sp>
        <p:nvSpPr>
          <p:cNvPr id="23" name="Text 21"/>
          <p:cNvSpPr/>
          <p:nvPr/>
        </p:nvSpPr>
        <p:spPr>
          <a:xfrm>
            <a:off x="9363456" y="3703320"/>
            <a:ext cx="2148840" cy="1234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1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Good &amp; Better, Tweet It!, 3-2-1, Plenary Pyramid</a:t>
            </a:r>
            <a:endParaRPr lang="en-US" sz="1100" dirty="0"/>
          </a:p>
        </p:txBody>
      </p:sp>
      <p:sp>
        <p:nvSpPr>
          <p:cNvPr id="24" name="Text 22"/>
          <p:cNvSpPr/>
          <p:nvPr/>
        </p:nvSpPr>
        <p:spPr>
          <a:xfrm>
            <a:off x="548640" y="5349240"/>
            <a:ext cx="10424160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lnSpc>
                <a:spcPts val="1700"/>
              </a:lnSpc>
              <a:buNone/>
            </a:pPr>
            <a:r>
              <a:rPr lang="en-US" sz="1300" i="1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Every activity carries a real purpose, teacher steps, learner steps, and resources — written once by NAFL, reused by AI to generate topic-specific content on demand.</a:t>
            </a:r>
            <a:endParaRPr lang="en-US" sz="1300" dirty="0"/>
          </a:p>
        </p:txBody>
      </p:sp>
      <p:pic>
        <p:nvPicPr>
          <p:cNvPr id="25" name="Image 0" descr="/home/claude/ppt_assets/nafl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6" name="Text 23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7" name="Text 24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8</a:t>
            </a:r>
            <a:endParaRPr lang="en-US" sz="9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INTELLIGENCE LAYER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the AI actually does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6" name="Image 0" descr="/home/claude/ppt_assets/FaRobo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134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Objective-driven content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Real questions, prompts and worked examples for the exact topic — not generic outlines.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9788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214884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1" name="Image 1" descr="/home/claude/ppt_assets/FaList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134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Bloom's Taxonomy objectives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3134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Measurable objectives spanning Remember through Create, levelled to the grade.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16" name="Image 2" descr="/home/claude/ppt_assets/FaChalkboardTeacher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050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Teacher Mini-Lecture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005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subject-knowledge script with a hook, explanation, worked example, misconceptions, and questions.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9788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26480" y="3840480"/>
            <a:ext cx="640080" cy="640080"/>
          </a:xfrm>
          <a:prstGeom prst="ellipse">
            <a:avLst/>
          </a:prstGeom>
          <a:solidFill>
            <a:srgbClr val="0E7C86"/>
          </a:solidFill>
          <a:ln/>
        </p:spPr>
      </p:sp>
      <p:pic>
        <p:nvPicPr>
          <p:cNvPr id="21" name="Image 3" descr="/home/claude/ppt_assets/FaBookOpen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0050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Source-grounded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03720" y="4005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Anchored in NCERT/CBSE textbooks — and opencs.com / Happy Coder style content for Computer Science.</a:t>
            </a:r>
            <a:endParaRPr lang="en-US" sz="1150" dirty="0"/>
          </a:p>
        </p:txBody>
      </p:sp>
      <p:sp>
        <p:nvSpPr>
          <p:cNvPr id="24" name="Shape 18"/>
          <p:cNvSpPr/>
          <p:nvPr/>
        </p:nvSpPr>
        <p:spPr>
          <a:xfrm>
            <a:off x="548640" y="5532120"/>
            <a:ext cx="10515600" cy="777240"/>
          </a:xfrm>
          <a:prstGeom prst="roundRect">
            <a:avLst>
              <a:gd name="adj" fmla="val 9412"/>
            </a:avLst>
          </a:prstGeom>
          <a:solidFill>
            <a:srgbClr val="E8D4A8"/>
          </a:solidFill>
          <a:ln/>
        </p:spPr>
      </p:sp>
      <p:pic>
        <p:nvPicPr>
          <p:cNvPr id="25" name="Image 4" descr="/home/claude/ppt_assets/FaKey_navy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77240" y="5715000"/>
            <a:ext cx="384048" cy="384048"/>
          </a:xfrm>
          <a:prstGeom prst="rect">
            <a:avLst/>
          </a:prstGeom>
        </p:spPr>
      </p:pic>
      <p:sp>
        <p:nvSpPr>
          <p:cNvPr id="26" name="Text 19"/>
          <p:cNvSpPr/>
          <p:nvPr/>
        </p:nvSpPr>
        <p:spPr>
          <a:xfrm>
            <a:off x="1325880" y="5532120"/>
            <a:ext cx="960120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700"/>
              </a:lnSpc>
              <a:buNone/>
            </a:pPr>
            <a:r>
              <a:rPr lang="en-US" sz="1300" b="1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Free for the school: </a:t>
            </a:r>
            <a:pPr indent="0" marL="0">
              <a:lnSpc>
                <a:spcPts val="1700"/>
              </a:lnSpc>
              <a:buNone/>
            </a:pPr>
            <a:r>
              <a:rPr lang="en-US" sz="1300" dirty="0">
                <a:solidFill>
                  <a:srgbClr val="13233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teachers turn on AI with a free Google Gemini key (about a minute to set up) — no subscription cost to NAFL.</a:t>
            </a:r>
            <a:endParaRPr lang="en-US" sz="1300" dirty="0"/>
          </a:p>
        </p:txBody>
      </p:sp>
      <p:pic>
        <p:nvPicPr>
          <p:cNvPr id="27" name="Image 5" descr="/home/claude/ppt_assets/nafl_flame.png">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8" name="Text 20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9" name="Text 21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</a:t>
            </a:r>
            <a:endParaRPr lang="en-US" sz="9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6F1E7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OUTPUT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plan: print-ready PDF and editable Word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8288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868680" y="2148840"/>
            <a:ext cx="777240" cy="77724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6" name="Image 0" descr="/home/claude/ppt_assets/FaFilePdf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51560" y="2331720"/>
            <a:ext cx="411480" cy="411480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82880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7C1F2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PDF — for printing &amp; sharing</a:t>
            </a:r>
            <a:endParaRPr lang="en-US" sz="1700" dirty="0"/>
          </a:p>
        </p:txBody>
      </p:sp>
      <p:sp>
        <p:nvSpPr>
          <p:cNvPr id="8" name="Text 5"/>
          <p:cNvSpPr/>
          <p:nvPr/>
        </p:nvSpPr>
        <p:spPr>
          <a:xfrm>
            <a:off x="914400" y="320040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Matches NAFL's exact lesson-plan layout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Light-blue Aim row, peach Objectives row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Ready to print, attach, or send to the office</a:t>
            </a:r>
            <a:endParaRPr lang="en-US" sz="1300" dirty="0"/>
          </a:p>
        </p:txBody>
      </p:sp>
      <p:sp>
        <p:nvSpPr>
          <p:cNvPr id="9" name="Shape 6"/>
          <p:cNvSpPr/>
          <p:nvPr/>
        </p:nvSpPr>
        <p:spPr>
          <a:xfrm>
            <a:off x="5897880" y="1828800"/>
            <a:ext cx="5074920" cy="3657600"/>
          </a:xfrm>
          <a:prstGeom prst="roundRect">
            <a:avLst>
              <a:gd name="adj" fmla="val 2000"/>
            </a:avLst>
          </a:prstGeom>
          <a:solidFill>
            <a:srgbClr val="FFFFFF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217920" y="2148840"/>
            <a:ext cx="777240" cy="777240"/>
          </a:xfrm>
          <a:prstGeom prst="ellipse">
            <a:avLst/>
          </a:prstGeom>
          <a:solidFill>
            <a:srgbClr val="13233F"/>
          </a:solidFill>
          <a:ln/>
        </p:spPr>
      </p:sp>
      <p:pic>
        <p:nvPicPr>
          <p:cNvPr id="11" name="Image 1" descr="/home/claude/ppt_assets/FaFileWord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400800" y="2331720"/>
            <a:ext cx="411480" cy="411480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7178040" y="2194560"/>
            <a:ext cx="35204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70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Word — for editing</a:t>
            </a:r>
            <a:endParaRPr lang="en-US" sz="1700" dirty="0"/>
          </a:p>
        </p:txBody>
      </p:sp>
      <p:sp>
        <p:nvSpPr>
          <p:cNvPr id="13" name="Text 9"/>
          <p:cNvSpPr/>
          <p:nvPr/>
        </p:nvSpPr>
        <p:spPr>
          <a:xfrm>
            <a:off x="6263640" y="3200400"/>
            <a:ext cx="4343400" cy="210312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editable in Microsoft Word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Teacher fills in name, date, and class on the spot</a:t>
            </a:r>
            <a:endParaRPr lang="en-US" sz="1300" dirty="0"/>
          </a:p>
          <a:p>
            <a:pPr marL="342900" indent="-342900">
              <a:spcAft>
                <a:spcPts val="1000"/>
              </a:spcAft>
              <a:buSzPct val="100000"/>
              <a:buChar char="•"/>
            </a:pPr>
            <a:r>
              <a:rPr lang="en-US" sz="130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Add or change rows, retype any section freely</a:t>
            </a:r>
            <a:endParaRPr lang="en-US" sz="1300" dirty="0"/>
          </a:p>
        </p:txBody>
      </p:sp>
      <p:sp>
        <p:nvSpPr>
          <p:cNvPr id="14" name="Text 10"/>
          <p:cNvSpPr/>
          <p:nvPr/>
        </p:nvSpPr>
        <p:spPr>
          <a:xfrm>
            <a:off x="548640" y="5669280"/>
            <a:ext cx="105156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i="1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Both files always carry the school's footer credit and stay consistent — what you see on screen is what downloads.</a:t>
            </a:r>
            <a:endParaRPr lang="en-US" sz="1300" dirty="0"/>
          </a:p>
        </p:txBody>
      </p:sp>
      <p:pic>
        <p:nvPicPr>
          <p:cNvPr id="15" name="Image 2" descr="/home/claude/ppt_assets/nafl_flam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16" name="Text 11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17" name="Text 12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</a:t>
            </a:r>
            <a:endParaRPr lang="en-US" sz="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7C1F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TRUST &amp; OPERATIONS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1C2433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Built to be safe, simple, and free to run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5" name="Shape 3"/>
          <p:cNvSpPr/>
          <p:nvPr/>
        </p:nvSpPr>
        <p:spPr>
          <a:xfrm>
            <a:off x="777240" y="2148840"/>
            <a:ext cx="640080" cy="64008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6" name="Image 0" descr="/home/claude/ppt_assets/FaShieldAlt_whit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41832" y="2313432"/>
            <a:ext cx="310896" cy="310896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155448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Data stays with the teacher</a:t>
            </a:r>
            <a:endParaRPr lang="en-US" sz="1450" dirty="0"/>
          </a:p>
        </p:txBody>
      </p:sp>
      <p:sp>
        <p:nvSpPr>
          <p:cNvPr id="8" name="Text 5"/>
          <p:cNvSpPr/>
          <p:nvPr/>
        </p:nvSpPr>
        <p:spPr>
          <a:xfrm>
            <a:off x="1554480" y="23134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keys are stored only on the teacher's own device — never uploaded, never shared.</a:t>
            </a:r>
            <a:endParaRPr lang="en-US" sz="1150" dirty="0"/>
          </a:p>
        </p:txBody>
      </p:sp>
      <p:sp>
        <p:nvSpPr>
          <p:cNvPr id="9" name="Shape 6"/>
          <p:cNvSpPr/>
          <p:nvPr/>
        </p:nvSpPr>
        <p:spPr>
          <a:xfrm>
            <a:off x="5897880" y="178308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0" name="Shape 7"/>
          <p:cNvSpPr/>
          <p:nvPr/>
        </p:nvSpPr>
        <p:spPr>
          <a:xfrm>
            <a:off x="6126480" y="2148840"/>
            <a:ext cx="640080" cy="64008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11" name="Image 1" descr="/home/claude/ppt_assets/FaSchool_white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291072" y="2313432"/>
            <a:ext cx="310896" cy="310896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6903720" y="194767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Runs entirely in the browser</a:t>
            </a:r>
            <a:endParaRPr lang="en-US" sz="1450" dirty="0"/>
          </a:p>
        </p:txBody>
      </p:sp>
      <p:sp>
        <p:nvSpPr>
          <p:cNvPr id="13" name="Text 9"/>
          <p:cNvSpPr/>
          <p:nvPr/>
        </p:nvSpPr>
        <p:spPr>
          <a:xfrm>
            <a:off x="6903720" y="231343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server, no install, no IT maintenance. One file, hosted free on GitHub Pages.</a:t>
            </a:r>
            <a:endParaRPr lang="en-US" sz="1150" dirty="0"/>
          </a:p>
        </p:txBody>
      </p:sp>
      <p:sp>
        <p:nvSpPr>
          <p:cNvPr id="14" name="Shape 10"/>
          <p:cNvSpPr/>
          <p:nvPr/>
        </p:nvSpPr>
        <p:spPr>
          <a:xfrm>
            <a:off x="54864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15" name="Shape 11"/>
          <p:cNvSpPr/>
          <p:nvPr/>
        </p:nvSpPr>
        <p:spPr>
          <a:xfrm>
            <a:off x="777240" y="3840480"/>
            <a:ext cx="640080" cy="64008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16" name="Image 2" descr="/home/claude/ppt_assets/FaPalette_white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41832" y="4005072"/>
            <a:ext cx="310896" cy="310896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155448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On-brand by design</a:t>
            </a:r>
            <a:endParaRPr lang="en-US" sz="1450" dirty="0"/>
          </a:p>
        </p:txBody>
      </p:sp>
      <p:sp>
        <p:nvSpPr>
          <p:cNvPr id="18" name="Text 13"/>
          <p:cNvSpPr/>
          <p:nvPr/>
        </p:nvSpPr>
        <p:spPr>
          <a:xfrm>
            <a:off x="1554480" y="4005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NAFL logo, colours, and the exact In-session lesson-plan format throughout.</a:t>
            </a:r>
            <a:endParaRPr lang="en-US" sz="1150" dirty="0"/>
          </a:p>
        </p:txBody>
      </p:sp>
      <p:sp>
        <p:nvSpPr>
          <p:cNvPr id="19" name="Shape 14"/>
          <p:cNvSpPr/>
          <p:nvPr/>
        </p:nvSpPr>
        <p:spPr>
          <a:xfrm>
            <a:off x="5897880" y="3474720"/>
            <a:ext cx="5074920" cy="1417320"/>
          </a:xfrm>
          <a:prstGeom prst="roundRect">
            <a:avLst>
              <a:gd name="adj" fmla="val 5161"/>
            </a:avLst>
          </a:prstGeom>
          <a:solidFill>
            <a:srgbClr val="F6F1E7"/>
          </a:solidFill>
          <a:ln/>
          <a:effectLst>
            <a:outerShdw sx="100000" sy="100000" kx="0" ky="0" algn="bl" rotWithShape="0" blurRad="101600" dist="38100" dir="2700000">
              <a:srgbClr val="000000">
                <a:alpha val="12000"/>
              </a:srgbClr>
            </a:outerShdw>
          </a:effectLst>
        </p:spPr>
      </p:sp>
      <p:sp>
        <p:nvSpPr>
          <p:cNvPr id="20" name="Shape 15"/>
          <p:cNvSpPr/>
          <p:nvPr/>
        </p:nvSpPr>
        <p:spPr>
          <a:xfrm>
            <a:off x="6126480" y="3840480"/>
            <a:ext cx="640080" cy="640080"/>
          </a:xfrm>
          <a:prstGeom prst="ellipse">
            <a:avLst/>
          </a:prstGeom>
          <a:solidFill>
            <a:srgbClr val="7C1F2E"/>
          </a:solidFill>
          <a:ln/>
        </p:spPr>
      </p:sp>
      <p:pic>
        <p:nvPicPr>
          <p:cNvPr id="21" name="Image 3" descr="/home/claude/ppt_assets/FaCheckCircle_white.png">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291072" y="4005072"/>
            <a:ext cx="310896" cy="310896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6903720" y="3639312"/>
            <a:ext cx="38404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450" b="1" dirty="0">
                <a:solidFill>
                  <a:srgbClr val="13233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Works with or without AI</a:t>
            </a:r>
            <a:endParaRPr lang="en-US" sz="1450" dirty="0"/>
          </a:p>
        </p:txBody>
      </p:sp>
      <p:sp>
        <p:nvSpPr>
          <p:cNvPr id="23" name="Text 17"/>
          <p:cNvSpPr/>
          <p:nvPr/>
        </p:nvSpPr>
        <p:spPr>
          <a:xfrm>
            <a:off x="6903720" y="4005072"/>
            <a:ext cx="384048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500"/>
              </a:lnSpc>
              <a:buNone/>
            </a:pPr>
            <a:r>
              <a:rPr lang="en-US" sz="1150" dirty="0">
                <a:solidFill>
                  <a:srgbClr val="1C243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Without an AI key the Portal still builds complete, editable plans from templates.</a:t>
            </a:r>
            <a:endParaRPr lang="en-US" sz="1150" dirty="0"/>
          </a:p>
        </p:txBody>
      </p:sp>
      <p:pic>
        <p:nvPicPr>
          <p:cNvPr id="24" name="Image 4" descr="/home/claude/ppt_assets/nafl_flame.png">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25" name="Text 18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26" name="Text 19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11</a:t>
            </a:r>
            <a:endParaRPr lang="en-US" sz="9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48640" y="384048"/>
            <a:ext cx="82296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300" b="1" spc="200" kern="0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NEXT STEPS</a:t>
            </a:r>
            <a:endParaRPr lang="en-US" sz="1300" dirty="0"/>
          </a:p>
        </p:txBody>
      </p:sp>
      <p:sp>
        <p:nvSpPr>
          <p:cNvPr id="3" name="Text 1"/>
          <p:cNvSpPr/>
          <p:nvPr/>
        </p:nvSpPr>
        <p:spPr>
          <a:xfrm>
            <a:off x="548640" y="658368"/>
            <a:ext cx="1060704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3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What we're asking the Principal's office</a:t>
            </a:r>
            <a:endParaRPr lang="en-US" sz="3000" dirty="0"/>
          </a:p>
        </p:txBody>
      </p:sp>
      <p:sp>
        <p:nvSpPr>
          <p:cNvPr id="4" name="Shape 2"/>
          <p:cNvSpPr/>
          <p:nvPr/>
        </p:nvSpPr>
        <p:spPr>
          <a:xfrm>
            <a:off x="54864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1D3358"/>
          </a:solidFill>
          <a:ln/>
        </p:spPr>
      </p:sp>
      <p:sp>
        <p:nvSpPr>
          <p:cNvPr id="5" name="Text 3"/>
          <p:cNvSpPr/>
          <p:nvPr/>
        </p:nvSpPr>
        <p:spPr>
          <a:xfrm>
            <a:off x="82296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4000" dirty="0"/>
          </a:p>
        </p:txBody>
      </p:sp>
      <p:sp>
        <p:nvSpPr>
          <p:cNvPr id="6" name="Text 4"/>
          <p:cNvSpPr/>
          <p:nvPr/>
        </p:nvSpPr>
        <p:spPr>
          <a:xfrm>
            <a:off x="82296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Approve a pilot</a:t>
            </a:r>
            <a:endParaRPr lang="en-US" sz="1600" dirty="0"/>
          </a:p>
        </p:txBody>
      </p:sp>
      <p:sp>
        <p:nvSpPr>
          <p:cNvPr id="7" name="Text 5"/>
          <p:cNvSpPr/>
          <p:nvPr/>
        </p:nvSpPr>
        <p:spPr>
          <a:xfrm>
            <a:off x="822960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Start with one department (e.g. Computer Science or EVS) for two weeks.</a:t>
            </a:r>
            <a:endParaRPr lang="en-US" sz="1200" dirty="0"/>
          </a:p>
        </p:txBody>
      </p:sp>
      <p:sp>
        <p:nvSpPr>
          <p:cNvPr id="8" name="Shape 6"/>
          <p:cNvSpPr/>
          <p:nvPr/>
        </p:nvSpPr>
        <p:spPr>
          <a:xfrm>
            <a:off x="425196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1D3358"/>
          </a:solidFill>
          <a:ln/>
        </p:spPr>
      </p:sp>
      <p:sp>
        <p:nvSpPr>
          <p:cNvPr id="9" name="Text 7"/>
          <p:cNvSpPr/>
          <p:nvPr/>
        </p:nvSpPr>
        <p:spPr>
          <a:xfrm>
            <a:off x="452628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4000" dirty="0"/>
          </a:p>
        </p:txBody>
      </p:sp>
      <p:sp>
        <p:nvSpPr>
          <p:cNvPr id="10" name="Text 8"/>
          <p:cNvSpPr/>
          <p:nvPr/>
        </p:nvSpPr>
        <p:spPr>
          <a:xfrm>
            <a:off x="452628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Share with HODs</a:t>
            </a:r>
            <a:endParaRPr lang="en-US" sz="1600" dirty="0"/>
          </a:p>
        </p:txBody>
      </p:sp>
      <p:sp>
        <p:nvSpPr>
          <p:cNvPr id="11" name="Text 9"/>
          <p:cNvSpPr/>
          <p:nvPr/>
        </p:nvSpPr>
        <p:spPr>
          <a:xfrm>
            <a:off x="4526280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 each department can upload its own syllabus and convert existing plans.</a:t>
            </a:r>
            <a:endParaRPr lang="en-US" sz="1200" dirty="0"/>
          </a:p>
        </p:txBody>
      </p:sp>
      <p:sp>
        <p:nvSpPr>
          <p:cNvPr id="12" name="Shape 10"/>
          <p:cNvSpPr/>
          <p:nvPr/>
        </p:nvSpPr>
        <p:spPr>
          <a:xfrm>
            <a:off x="7955280" y="1965960"/>
            <a:ext cx="3429000" cy="3017520"/>
          </a:xfrm>
          <a:prstGeom prst="roundRect">
            <a:avLst>
              <a:gd name="adj" fmla="val 2424"/>
            </a:avLst>
          </a:prstGeom>
          <a:solidFill>
            <a:srgbClr val="1D3358"/>
          </a:solidFill>
          <a:ln/>
        </p:spPr>
      </p:sp>
      <p:sp>
        <p:nvSpPr>
          <p:cNvPr id="13" name="Text 11"/>
          <p:cNvSpPr/>
          <p:nvPr/>
        </p:nvSpPr>
        <p:spPr>
          <a:xfrm>
            <a:off x="8229600" y="2194560"/>
            <a:ext cx="914400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4000" b="1" dirty="0">
                <a:solidFill>
                  <a:srgbClr val="C79A3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3</a:t>
            </a:r>
            <a:endParaRPr lang="en-US" sz="4000" dirty="0"/>
          </a:p>
        </p:txBody>
      </p:sp>
      <p:sp>
        <p:nvSpPr>
          <p:cNvPr id="14" name="Text 12"/>
          <p:cNvSpPr/>
          <p:nvPr/>
        </p:nvSpPr>
        <p:spPr>
          <a:xfrm>
            <a:off x="8229600" y="3063240"/>
            <a:ext cx="288036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900"/>
              </a:lnSpc>
              <a:buNone/>
            </a:pPr>
            <a:r>
              <a:rPr lang="en-US" sz="16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Greenlight school-wide rollout</a:t>
            </a:r>
            <a:endParaRPr lang="en-US" sz="1600" dirty="0"/>
          </a:p>
        </p:txBody>
      </p:sp>
      <p:sp>
        <p:nvSpPr>
          <p:cNvPr id="15" name="Text 13"/>
          <p:cNvSpPr/>
          <p:nvPr/>
        </p:nvSpPr>
        <p:spPr>
          <a:xfrm>
            <a:off x="8229600" y="3657600"/>
            <a:ext cx="2880360" cy="10972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lnSpc>
                <a:spcPts val="1600"/>
              </a:lnSpc>
              <a:buNone/>
            </a:pPr>
            <a:r>
              <a:rPr lang="en-US" sz="1200" dirty="0">
                <a:solidFill>
                  <a:srgbClr val="C4D2E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Once the pilot confirms time saved and format compliance.</a:t>
            </a:r>
            <a:endParaRPr lang="en-US" sz="1200" dirty="0"/>
          </a:p>
        </p:txBody>
      </p:sp>
      <p:sp>
        <p:nvSpPr>
          <p:cNvPr id="16" name="Text 14"/>
          <p:cNvSpPr/>
          <p:nvPr/>
        </p:nvSpPr>
        <p:spPr>
          <a:xfrm>
            <a:off x="548640" y="5349240"/>
            <a:ext cx="1042416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500" i="1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With your approval, teachers could be generating their first lesson plans this week.</a:t>
            </a:r>
            <a:endParaRPr lang="en-US" sz="1500" dirty="0"/>
          </a:p>
        </p:txBody>
      </p:sp>
      <p:pic>
        <p:nvPicPr>
          <p:cNvPr id="17" name="Image 0" descr="/home/claude/ppt_assets/nafl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57200" y="6345936"/>
            <a:ext cx="164592" cy="347472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777240" y="6382512"/>
            <a:ext cx="59436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spc="100" kern="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 ·  NATIONAL ACADEMY FOR LEARNING</a:t>
            </a:r>
            <a:endParaRPr lang="en-US" sz="900" dirty="0"/>
          </a:p>
        </p:txBody>
      </p:sp>
      <p:sp>
        <p:nvSpPr>
          <p:cNvPr id="19" name="Text 16"/>
          <p:cNvSpPr/>
          <p:nvPr/>
        </p:nvSpPr>
        <p:spPr>
          <a:xfrm>
            <a:off x="9262872" y="6382512"/>
            <a:ext cx="2468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r" indent="0" marL="0">
              <a:buNone/>
            </a:pPr>
            <a:r>
              <a:rPr lang="en-US" sz="900" dirty="0">
                <a:solidFill>
                  <a:srgbClr val="5D6B7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</a:t>
            </a:r>
            <a:endParaRPr lang="en-US" sz="900" dirty="0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13233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-2286000" y="3840480"/>
            <a:ext cx="6400800" cy="6400800"/>
          </a:xfrm>
          <a:prstGeom prst="ellipse">
            <a:avLst/>
          </a:prstGeom>
          <a:solidFill>
            <a:srgbClr val="1D3358"/>
          </a:solidFill>
          <a:ln/>
        </p:spPr>
      </p:sp>
      <p:pic>
        <p:nvPicPr>
          <p:cNvPr id="3" name="Image 0" descr="/home/claude/ppt_assets/nafl_flame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838444" y="1828800"/>
            <a:ext cx="512064" cy="1097280"/>
          </a:xfrm>
          <a:prstGeom prst="rect">
            <a:avLst/>
          </a:prstGeom>
        </p:spPr>
      </p:pic>
      <p:sp>
        <p:nvSpPr>
          <p:cNvPr id="4" name="Text 1"/>
          <p:cNvSpPr/>
          <p:nvPr/>
        </p:nvSpPr>
        <p:spPr>
          <a:xfrm>
            <a:off x="0" y="3200400"/>
            <a:ext cx="12188952" cy="8229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Thank you</a:t>
            </a:r>
            <a:endParaRPr lang="en-US" sz="4000" dirty="0"/>
          </a:p>
        </p:txBody>
      </p:sp>
      <p:sp>
        <p:nvSpPr>
          <p:cNvPr id="5" name="Text 2"/>
          <p:cNvSpPr/>
          <p:nvPr/>
        </p:nvSpPr>
        <p:spPr>
          <a:xfrm>
            <a:off x="0" y="3977640"/>
            <a:ext cx="12188952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E8D4A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PLP-NAFL-SPARK Portal  —  Questions &amp; Discussion</a:t>
            </a:r>
            <a:endParaRPr lang="en-US" sz="1600" dirty="0"/>
          </a:p>
        </p:txBody>
      </p:sp>
      <p:sp>
        <p:nvSpPr>
          <p:cNvPr id="6" name="Text 3"/>
          <p:cNvSpPr/>
          <p:nvPr/>
        </p:nvSpPr>
        <p:spPr>
          <a:xfrm>
            <a:off x="0" y="6217920"/>
            <a:ext cx="1218895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100" spc="100" kern="0" dirty="0">
                <a:solidFill>
                  <a:srgbClr val="9FB0C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National Academy for Learning · PLP-NAFL-SPARK Portal</a:t>
            </a:r>
            <a:endParaRPr lang="en-US" sz="11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PLP-NAFL-SPARK Portal — Project Launch</dc:title>
  <dc:subject>PptxGenJS Presentation</dc:subject>
  <dc:creator>National Academy for Learning</dc:creator>
  <cp:lastModifiedBy>National Academy for Learning</cp:lastModifiedBy>
  <cp:revision>1</cp:revision>
  <dcterms:created xsi:type="dcterms:W3CDTF">2026-06-26T13:26:11Z</dcterms:created>
  <dcterms:modified xsi:type="dcterms:W3CDTF">2026-06-26T13:26:11Z</dcterms:modified>
</cp:coreProperties>
</file>